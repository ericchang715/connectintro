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c10c97cc4243fb" /><Relationship Type="http://schemas.openxmlformats.org/officeDocument/2006/relationships/extended-properties" Target="/docProps/app.xml" Id="R5102cc50768d4d08" /><Relationship Type="http://schemas.openxmlformats.org/officeDocument/2006/relationships/officeDocument" Target="/ppt/presentation.xml" Id="Rc51bc5bb992d47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77da0bd69b478e"/>
  </p:sldMasterIdLst>
  <p:notesMasterIdLst>
    <p:notesMasterId xmlns:r="http://schemas.openxmlformats.org/officeDocument/2006/relationships" r:id="R90bdf5970e104b36"/>
  </p:notesMasterIdLst>
  <p:sldIdLst>
    <p:sldId xmlns:r="http://schemas.openxmlformats.org/officeDocument/2006/relationships" id="256" r:id="R70fb954484544dc0"/>
    <p:sldId xmlns:r="http://schemas.openxmlformats.org/officeDocument/2006/relationships" id="257" r:id="R1aec0d72bf144774"/>
    <p:sldId xmlns:r="http://schemas.openxmlformats.org/officeDocument/2006/relationships" id="258" r:id="Rb057bc3bc2074e49"/>
    <p:sldId xmlns:r="http://schemas.openxmlformats.org/officeDocument/2006/relationships" id="259" r:id="R29b9572dee6b47f5"/>
    <p:sldId xmlns:r="http://schemas.openxmlformats.org/officeDocument/2006/relationships" id="260" r:id="R6ff1edcbaa1047ef"/>
    <p:sldId xmlns:r="http://schemas.openxmlformats.org/officeDocument/2006/relationships" id="261" r:id="R3036ff8b21d04657"/>
    <p:sldId xmlns:r="http://schemas.openxmlformats.org/officeDocument/2006/relationships" id="262" r:id="R0167332ef34d441d"/>
    <p:sldId xmlns:r="http://schemas.openxmlformats.org/officeDocument/2006/relationships" id="263" r:id="R987a63d3aedc44b0"/>
    <p:sldId xmlns:r="http://schemas.openxmlformats.org/officeDocument/2006/relationships" id="264" r:id="Ra90f4ffe8a544dea"/>
    <p:sldId xmlns:r="http://schemas.openxmlformats.org/officeDocument/2006/relationships" id="265" r:id="Ra18c99aa30f8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69d70d7164a41" /><Relationship Type="http://schemas.openxmlformats.org/officeDocument/2006/relationships/slideMaster" Target="/ppt/slideMasters/slideMaster1.xml" Id="Re377da0bd69b478e" /><Relationship Type="http://schemas.openxmlformats.org/officeDocument/2006/relationships/notesMaster" Target="/ppt/notesMasters/notesMaster1.xml" Id="R90bdf5970e104b36" /><Relationship Type="http://schemas.openxmlformats.org/officeDocument/2006/relationships/presProps" Target="/ppt/presProps.xml" Id="Rc018a83983ae4cb4" /><Relationship Type="http://schemas.openxmlformats.org/officeDocument/2006/relationships/tableStyles" Target="/ppt/tableStyles.xml" Id="R79234e32383946e1" /><Relationship Type="http://schemas.openxmlformats.org/officeDocument/2006/relationships/slide" Target="/ppt/slides/slide1.xml" Id="R70fb954484544dc0" /><Relationship Type="http://schemas.openxmlformats.org/officeDocument/2006/relationships/slide" Target="/ppt/slides/slide2.xml" Id="R1aec0d72bf144774" /><Relationship Type="http://schemas.openxmlformats.org/officeDocument/2006/relationships/slide" Target="/ppt/slides/slide3.xml" Id="Rb057bc3bc2074e49" /><Relationship Type="http://schemas.openxmlformats.org/officeDocument/2006/relationships/slide" Target="/ppt/slides/slide4.xml" Id="R29b9572dee6b47f5" /><Relationship Type="http://schemas.openxmlformats.org/officeDocument/2006/relationships/slide" Target="/ppt/slides/slide5.xml" Id="R6ff1edcbaa1047ef" /><Relationship Type="http://schemas.openxmlformats.org/officeDocument/2006/relationships/slide" Target="/ppt/slides/slide6.xml" Id="R3036ff8b21d04657" /><Relationship Type="http://schemas.openxmlformats.org/officeDocument/2006/relationships/slide" Target="/ppt/slides/slide7.xml" Id="R0167332ef34d441d" /><Relationship Type="http://schemas.openxmlformats.org/officeDocument/2006/relationships/slide" Target="/ppt/slides/slide8.xml" Id="R987a63d3aedc44b0" /><Relationship Type="http://schemas.openxmlformats.org/officeDocument/2006/relationships/slide" Target="/ppt/slides/slide9.xml" Id="Ra90f4ffe8a544dea" /><Relationship Type="http://schemas.openxmlformats.org/officeDocument/2006/relationships/slide" Target="/ppt/slides/slide10.xml" Id="Ra18c99aa30f8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37081ea7548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nnect 教師推薦">
      <a:dk1>
        <a:srgbClr val="262626"/>
      </a:dk1>
      <a:lt1>
        <a:srgbClr val="FFFFFF"/>
      </a:lt1>
      <a:dk2>
        <a:srgbClr val="643312"/>
      </a:dk2>
      <a:lt2>
        <a:srgbClr val="EEF1EA"/>
      </a:lt2>
      <a:accent1>
        <a:srgbClr val="643312"/>
      </a:accent1>
      <a:accent2>
        <a:srgbClr val="8FA073"/>
      </a:accent2>
      <a:accent3>
        <a:srgbClr val="262626"/>
      </a:accent3>
      <a:accent4>
        <a:srgbClr val="BCA18F"/>
      </a:accent4>
      <a:accent5>
        <a:srgbClr val="D9E0D3"/>
      </a:accent5>
      <a:accent6>
        <a:srgbClr val="777777"/>
      </a:accent6>
      <a:hlink>
        <a:srgbClr val="643312"/>
      </a:hlink>
      <a:folHlink>
        <a:srgbClr val="8FA0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nect 教師推薦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64779fb6944ce" /><Relationship Type="http://schemas.openxmlformats.org/officeDocument/2006/relationships/notesMaster" Target="/ppt/notesMasters/notesMaster1.xml" Id="R919ec138751e43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82a177b89452f" /><Relationship Type="http://schemas.openxmlformats.org/officeDocument/2006/relationships/notesMaster" Target="/ppt/notesMasters/notesMaster1.xml" Id="Reee008a43fff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c488737de54c7b" /><Relationship Type="http://schemas.openxmlformats.org/officeDocument/2006/relationships/notesMaster" Target="/ppt/notesMasters/notesMaster1.xml" Id="R4419338f698244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f6c9135ef4077" /><Relationship Type="http://schemas.openxmlformats.org/officeDocument/2006/relationships/notesMaster" Target="/ppt/notesMasters/notesMaster1.xml" Id="R3a0017cf52d7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1b101f5244d3e" /><Relationship Type="http://schemas.openxmlformats.org/officeDocument/2006/relationships/notesMaster" Target="/ppt/notesMasters/notesMaster1.xml" Id="Rb4ba76586b214f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6fffadb4748b1" /><Relationship Type="http://schemas.openxmlformats.org/officeDocument/2006/relationships/notesMaster" Target="/ppt/notesMasters/notesMaster1.xml" Id="R5e943256382c49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54d92e45074b3d" /><Relationship Type="http://schemas.openxmlformats.org/officeDocument/2006/relationships/notesMaster" Target="/ppt/notesMasters/notesMaster1.xml" Id="Rf01889e8eaf746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774fa1aa94b83" /><Relationship Type="http://schemas.openxmlformats.org/officeDocument/2006/relationships/notesMaster" Target="/ppt/notesMasters/notesMaster1.xml" Id="R4aeb6aaf272143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533b1527614f75" /><Relationship Type="http://schemas.openxmlformats.org/officeDocument/2006/relationships/notesMaster" Target="/ppt/notesMasters/notesMaster1.xml" Id="Raf0082b8eef046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48bbbe69cd424e" /><Relationship Type="http://schemas.openxmlformats.org/officeDocument/2006/relationships/notesMaster" Target="/ppt/notesMasters/notesMaster1.xml" Id="R984f97fe4bd9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今天要介紹的是McGraw Hill Connect。這套平台不是單純把課本搬到線上，而是把備課、閱讀、作業、測驗與學習追蹤串在一起。接下來會用十個重點，看看教師如何節省重複工作，也讓學生獲得更即時的支持。請大家邊聽邊想，自己課程中最花時間、最想先改善的環節是哪一個。等一下會提供一個低風險試跑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1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學生閱讀原文書時，常卡在詞彙、長句或陌生概念。AI Reader可以在同一個閱讀畫面裡協助簡化、翻譯、標示重點，也能朗讀內容。教師不必另外整理大量補充資料，學生則能依自己的理解速度前進。重點不是替學生讀書，而是降低語言門檻，讓注意力回到真正要學會的概念。最後請把最有感的功能記下來，作為後續試用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2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Book把課前預習變成有方向的練習。學生先閱讀指定內容，再回答概念題並標示信心程度，系統會依作答表現調整後續內容。教師上課前就能掌握全班理解狀況，把時間留給常見迷思、重要推導與應用討論。如此一來，課堂不必再從頭講起，而能直接進入更有價值的互動。也請特別留意資料能否轉成下一次課堂的具體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3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考卷時，教師可以依章節、題型、難度與認知層次篩選題目，再用拖拉方式調整順序。完成後既能在線上派送，也可以匯出列印。這個流程能縮短找題、排版與重複輸入的時間，同時維持評量範圍與教學目標的一致。建議先建立常用篩選條件，讓每次命題更快、更穩定。這樣之後只要微調範圍，就能更快完成不同班級與週次的新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4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題庫能設定作業規則、開放時間、作答次數與配分，交卷後由系統自動批改。教師看到的不只是分數，還能快速找出班級共同弱點與需要補救的概念。如此可以把時間從機械式批改，轉移到回饋設計與教學調整。設定時要先確認答案顯示與截止規則，避免影響學生作答經驗。也建議先用小份作業測試，再逐步擴大使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5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Integrated Excel把熟悉的試算表直接放進題目中。學生可使用現值、終值等公式完成財務計算，系統也能檢查公式與結果，不只判斷最後答案。教師可以因此看出學生是觀念錯誤、公式選錯，還是操作失誤。這種練習更接近真實工作情境，也能培養學生用工具解決問題的能力。練習後再請學生說明公式選擇與判斷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6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Application-Based Activities以企業情境帶學生做決策，例如分析資料、選擇方案、進行溝通或談判，最後由系統依表現評分。學生不再只記公式，而是要判斷資訊、說明理由並承擔結果。教師可把活動安排在概念教學之後，作為課堂討論或課後任務，再用結果回看學生思考。再比較不同選擇帶來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7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資源區把常用備課材料集中在同一處，包括教師手冊、解答、投影片、Excel檔與影片。這些內容可以作為課程骨架，再依班級程度與教學節奏調整。好處不是照單全收，而是減少從零開始蒐集與整理的時間。建議先挑選與本學期目標最相關的素材，建立自己的固定備課流程。每次使用後保留修改紀錄，下次開課就能直接再延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8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導入Connect前，可以先完成系統相容性檢查，並優先使用桌機或筆電與Chrome瀏覽器。設定過程中記得定期儲存，離開時使用Save &amp; Exit，避免內容遺失。若遇到權限、瀏覽器或題目設定問題，也可透過支援管道處理。先把基本環境確認好，後續教學就能更順暢。上課前，最好再用學生身分走過一次完整流程。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9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想開始，不需要一次改完整門課。建議先申請測試帳號，選一個最熟悉的章節試跑，再設定一份SmartBook預習或線上作業。完成後觀察備課時間、學生完成率與常見錯誤，再決定下一步。用一章取得經驗，比全面導入更容易調整，也能讓教師和學生逐步建立使用習慣。先求流程順暢，再逐步增加章節與活動，會更容易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使用者提供《McGraw Hill Connect 教師推薦.pdf》，第 10 頁。</a:t>
            </a:r>
          </a:p>
          <a:p xmlns:a="http://schemas.openxmlformats.org/drawingml/2006/main">
            <a:r>
              <a:t>- 角色依使用者提供圖1製作；背景為使用者提供圖2。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bb3df5f76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e4cd8ec1e34139" /><Relationship Type="http://schemas.openxmlformats.org/officeDocument/2006/relationships/slideLayout" Target="/ppt/slideLayouts/slideLayout1.xml" Id="R9d08748642fc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08748642fc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nnect 教師推薦">
      <a:dk1>
        <a:srgbClr val="262626"/>
      </a:dk1>
      <a:lt1>
        <a:srgbClr val="FFFFFF"/>
      </a:lt1>
      <a:dk2>
        <a:srgbClr val="643312"/>
      </a:dk2>
      <a:lt2>
        <a:srgbClr val="EEF1EA"/>
      </a:lt2>
      <a:accent1>
        <a:srgbClr val="643312"/>
      </a:accent1>
      <a:accent2>
        <a:srgbClr val="8FA073"/>
      </a:accent2>
      <a:accent3>
        <a:srgbClr val="262626"/>
      </a:accent3>
      <a:accent4>
        <a:srgbClr val="BCA18F"/>
      </a:accent4>
      <a:accent5>
        <a:srgbClr val="D9E0D3"/>
      </a:accent5>
      <a:accent6>
        <a:srgbClr val="777777"/>
      </a:accent6>
      <a:hlink>
        <a:srgbClr val="643312"/>
      </a:hlink>
      <a:folHlink>
        <a:srgbClr val="8FA0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nect 教師推薦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1f485afac4ed7" /><Relationship Type="http://schemas.openxmlformats.org/officeDocument/2006/relationships/image" Target="/ppt/media/image.jpeg" Id="Rce042997e4be4b76" /><Relationship Type="http://schemas.openxmlformats.org/officeDocument/2006/relationships/image" Target="/ppt/media/image.png" Id="R3d9248e4669648b0" /><Relationship Type="http://schemas.openxmlformats.org/officeDocument/2006/relationships/notesSlide" Target="/ppt/notesSlides/notesSlide1.xml" Id="R496ef98dca21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70f20bb194d04" /><Relationship Type="http://schemas.openxmlformats.org/officeDocument/2006/relationships/image" Target="/ppt/media/image2.jpeg" Id="R4d8e6edbea8c4aaa" /><Relationship Type="http://schemas.openxmlformats.org/officeDocument/2006/relationships/image" Target="/ppt/media/image2.png" Id="Re0caeb91560049f3" /><Relationship Type="http://schemas.openxmlformats.org/officeDocument/2006/relationships/image" Target="/ppt/media/image3.png" Id="R4498e8076d74482a" /><Relationship Type="http://schemas.openxmlformats.org/officeDocument/2006/relationships/notesSlide" Target="/ppt/notesSlides/notesSlide2.xml" Id="R832c7d6d45b2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03ff7558e446d" /><Relationship Type="http://schemas.openxmlformats.org/officeDocument/2006/relationships/image" Target="/ppt/media/image3.jpeg" Id="Rdaa746d0c39445fe" /><Relationship Type="http://schemas.openxmlformats.org/officeDocument/2006/relationships/image" Target="/ppt/media/image4.png" Id="R902b228e402f459b" /><Relationship Type="http://schemas.openxmlformats.org/officeDocument/2006/relationships/image" Target="/ppt/media/image5.png" Id="R7beae42459984d9a" /><Relationship Type="http://schemas.openxmlformats.org/officeDocument/2006/relationships/notesSlide" Target="/ppt/notesSlides/notesSlide3.xml" Id="R948d1619c55d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930b1d4545f3" /><Relationship Type="http://schemas.openxmlformats.org/officeDocument/2006/relationships/image" Target="/ppt/media/image4.jpeg" Id="Rc4624c0c960e4b84" /><Relationship Type="http://schemas.openxmlformats.org/officeDocument/2006/relationships/image" Target="/ppt/media/image6.png" Id="R397a5ad36c0f4480" /><Relationship Type="http://schemas.openxmlformats.org/officeDocument/2006/relationships/image" Target="/ppt/media/image7.png" Id="R88a0488626a74001" /><Relationship Type="http://schemas.openxmlformats.org/officeDocument/2006/relationships/image" Target="/ppt/media/image8.png" Id="Rf6e890b2fa4c4b82" /><Relationship Type="http://schemas.openxmlformats.org/officeDocument/2006/relationships/notesSlide" Target="/ppt/notesSlides/notesSlide4.xml" Id="Re9fbe0558ecb41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b40fba6d14e6f" /><Relationship Type="http://schemas.openxmlformats.org/officeDocument/2006/relationships/image" Target="/ppt/media/image5.jpeg" Id="Rf5b12c5e62ad4843" /><Relationship Type="http://schemas.openxmlformats.org/officeDocument/2006/relationships/image" Target="/ppt/media/image9.png" Id="Rc6aff2fc426346fa" /><Relationship Type="http://schemas.openxmlformats.org/officeDocument/2006/relationships/image" Target="/ppt/media/image10.png" Id="R27707c91c1b0411b" /><Relationship Type="http://schemas.openxmlformats.org/officeDocument/2006/relationships/image" Target="/ppt/media/image11.png" Id="R4cb5b09b471d4d0a" /><Relationship Type="http://schemas.openxmlformats.org/officeDocument/2006/relationships/notesSlide" Target="/ppt/notesSlides/notesSlide5.xml" Id="R403e8e42b5c342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06c18862b4dd4" /><Relationship Type="http://schemas.openxmlformats.org/officeDocument/2006/relationships/image" Target="/ppt/media/image6.jpeg" Id="R89b0200b1ddd410e" /><Relationship Type="http://schemas.openxmlformats.org/officeDocument/2006/relationships/image" Target="/ppt/media/image12.png" Id="Rfd163d9955ee4da3" /><Relationship Type="http://schemas.openxmlformats.org/officeDocument/2006/relationships/image" Target="/ppt/media/image13.png" Id="R0b48a1d769cf4536" /><Relationship Type="http://schemas.openxmlformats.org/officeDocument/2006/relationships/notesSlide" Target="/ppt/notesSlides/notesSlide6.xml" Id="Reefaf6aadecb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e9aa8f6944d6d" /><Relationship Type="http://schemas.openxmlformats.org/officeDocument/2006/relationships/image" Target="/ppt/media/image7.jpeg" Id="Rd9f6ed54c54a4f8c" /><Relationship Type="http://schemas.openxmlformats.org/officeDocument/2006/relationships/image" Target="/ppt/media/image14.png" Id="R3e8ad2c3d8634e1d" /><Relationship Type="http://schemas.openxmlformats.org/officeDocument/2006/relationships/image" Target="/ppt/media/image15.png" Id="R5fd59c9fa3cc4887" /><Relationship Type="http://schemas.openxmlformats.org/officeDocument/2006/relationships/image" Target="/ppt/media/image16.png" Id="R4d448a954e094ea4" /><Relationship Type="http://schemas.openxmlformats.org/officeDocument/2006/relationships/notesSlide" Target="/ppt/notesSlides/notesSlide7.xml" Id="Rdfbdff7b49844f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8652cd77f4fcb" /><Relationship Type="http://schemas.openxmlformats.org/officeDocument/2006/relationships/image" Target="/ppt/media/image8.jpeg" Id="R2b32e58cb9c24c2a" /><Relationship Type="http://schemas.openxmlformats.org/officeDocument/2006/relationships/image" Target="/ppt/media/image17.png" Id="R945eefb8b56941a6" /><Relationship Type="http://schemas.openxmlformats.org/officeDocument/2006/relationships/image" Target="/ppt/media/image18.png" Id="R2aeada9afe5a42ef" /><Relationship Type="http://schemas.openxmlformats.org/officeDocument/2006/relationships/notesSlide" Target="/ppt/notesSlides/notesSlide8.xml" Id="R9cdd786f443547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6bc057b9348f6" /><Relationship Type="http://schemas.openxmlformats.org/officeDocument/2006/relationships/image" Target="/ppt/media/image9.jpeg" Id="R16043c572367407b" /><Relationship Type="http://schemas.openxmlformats.org/officeDocument/2006/relationships/image" Target="/ppt/media/image19.png" Id="Ra1d40754e9b84393" /><Relationship Type="http://schemas.openxmlformats.org/officeDocument/2006/relationships/image" Target="/ppt/media/image20.png" Id="R589fa44c745a443b" /><Relationship Type="http://schemas.openxmlformats.org/officeDocument/2006/relationships/notesSlide" Target="/ppt/notesSlides/notesSlide9.xml" Id="Ra1015f6b814f43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09fa2d53b4c41" /><Relationship Type="http://schemas.openxmlformats.org/officeDocument/2006/relationships/image" Target="/ppt/media/image10.jpeg" Id="R870b80f0fbf2484c" /><Relationship Type="http://schemas.openxmlformats.org/officeDocument/2006/relationships/image" Target="/ppt/media/image21.png" Id="R88b064f5db3f47c6" /><Relationship Type="http://schemas.openxmlformats.org/officeDocument/2006/relationships/image" Target="/ppt/media/image22.png" Id="R28a953ac51be495e" /><Relationship Type="http://schemas.openxmlformats.org/officeDocument/2006/relationships/notesSlide" Target="/ppt/notesSlides/notesSlide10.xml" Id="Rfe6fd0f999c541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42997e4be4b76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F83AB69-E16F-4B46-BC22-3A5943A4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8FA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8FA073"/>
                </a:solidFill>
                <a:latin typeface="Microsoft JhengHei"/>
                <a:ea typeface="Microsoft JhengHei"/>
                <a:cs typeface="Microsoft JhengHei"/>
              </a:rPr>
              <a:t>McGraw Hill Connect｜教師教學支援平台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592E26C-86D8-4E77-AA22-3550E70F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8631C9F-EC87-44C8-B27F-CA098EA8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76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解放備課時間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打造高效能課堂</a:t>
            </a:r>
          </a:p>
        </p:txBody>
      </p:sp>
      <p:sp>
        <p:nvSpPr>
          <p:cNvPr id="5" name="cover-copy">
            <a:extLst xmlns:a="http://schemas.openxmlformats.org/drawingml/2006/main">
              <a:ext uri="{FF2B5EF4-FFF2-40B4-BE49-F238E27FC236}">
                <a16:creationId xmlns:a16="http://schemas.microsoft.com/office/drawing/2014/main" id="{776028D7-7A80-4A65-953B-7D092FE1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閱讀、作業、評量與學習追蹤，一次串接</a:t>
            </a:r>
          </a:p>
        </p:txBody>
      </p:sp>
      <p:sp>
        <p:nvSpPr>
          <p:cNvPr id="6" name="cover-flow">
            <a:extLst xmlns:a="http://schemas.openxmlformats.org/drawingml/2006/main">
              <a:ext uri="{FF2B5EF4-FFF2-40B4-BE49-F238E27FC236}">
                <a16:creationId xmlns:a16="http://schemas.microsoft.com/office/drawing/2014/main" id="{B7FA59EC-949B-4508-A1E5-6E56BCF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657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備課  →  閱讀  →  作業  →  評量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48e4669648b0"/>
          <a:stretch xmlns:a="http://schemas.openxmlformats.org/drawingml/2006/main"/>
        </p:blipFill>
        <p:spPr>
          <a:xfrm xmlns:a="http://schemas.openxmlformats.org/drawingml/2006/main">
            <a:off x="7334250" y="1352550"/>
            <a:ext cx="428625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589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e6edbea8c4aaa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ader-panel">
            <a:extLst xmlns:a="http://schemas.openxmlformats.org/drawingml/2006/main">
              <a:ext uri="{FF2B5EF4-FFF2-40B4-BE49-F238E27FC236}">
                <a16:creationId xmlns:a16="http://schemas.microsoft.com/office/drawing/2014/main" id="{EA0A4201-EC0D-42BB-A579-2691E47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5E9FB198-13CC-4BD0-BCBD-22CA4FE9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E4BE2317-1EC6-4EF3-A358-72637767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原文書不再難懂</a:t>
            </a:r>
          </a:p>
        </p:txBody>
      </p:sp>
      <p:sp>
        <p:nvSpPr>
          <p:cNvPr id="5" name="rule-2">
            <a:extLst xmlns:a="http://schemas.openxmlformats.org/drawingml/2006/main">
              <a:ext uri="{FF2B5EF4-FFF2-40B4-BE49-F238E27FC236}">
                <a16:creationId xmlns:a16="http://schemas.microsoft.com/office/drawing/2014/main" id="{0B7D9549-6F23-4A34-A3C7-64F36332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2">
            <a:extLst xmlns:a="http://schemas.openxmlformats.org/drawingml/2006/main">
              <a:ext uri="{FF2B5EF4-FFF2-40B4-BE49-F238E27FC236}">
                <a16:creationId xmlns:a16="http://schemas.microsoft.com/office/drawing/2014/main" id="{47AE63E7-3376-44E0-A5E2-D4604C8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Reader</a:t>
            </a:r>
          </a:p>
        </p:txBody>
      </p:sp>
      <p:sp>
        <p:nvSpPr>
          <p:cNvPr id="7" name="reader-1">
            <a:extLst xmlns:a="http://schemas.openxmlformats.org/drawingml/2006/main">
              <a:ext uri="{FF2B5EF4-FFF2-40B4-BE49-F238E27FC236}">
                <a16:creationId xmlns:a16="http://schemas.microsoft.com/office/drawing/2014/main" id="{4CD6C6C3-23B8-4D4C-BB53-CF580B45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一鍵簡化與翻譯</a:t>
            </a:r>
          </a:p>
        </p:txBody>
      </p:sp>
      <p:sp>
        <p:nvSpPr>
          <p:cNvPr id="8" name="reader-2">
            <a:extLst xmlns:a="http://schemas.openxmlformats.org/drawingml/2006/main">
              <a:ext uri="{FF2B5EF4-FFF2-40B4-BE49-F238E27FC236}">
                <a16:creationId xmlns:a16="http://schemas.microsoft.com/office/drawing/2014/main" id="{79F31E3F-88DB-4DDD-A6A5-F6055EC1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自動標示閱讀重點</a:t>
            </a:r>
          </a:p>
        </p:txBody>
      </p:sp>
      <p:sp>
        <p:nvSpPr>
          <p:cNvPr id="9" name="reader-3">
            <a:extLst xmlns:a="http://schemas.openxmlformats.org/drawingml/2006/main">
              <a:ext uri="{FF2B5EF4-FFF2-40B4-BE49-F238E27FC236}">
                <a16:creationId xmlns:a16="http://schemas.microsoft.com/office/drawing/2014/main" id="{2CB5D733-FBEA-45B9-BB8C-83B933D9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朗讀支援自主學習</a:t>
            </a:r>
          </a:p>
        </p:txBody>
      </p:sp>
      <p:sp>
        <p:nvSpPr>
          <p:cNvPr id="10" name="reader-shot-bg">
            <a:extLst xmlns:a="http://schemas.openxmlformats.org/drawingml/2006/main">
              <a:ext uri="{FF2B5EF4-FFF2-40B4-BE49-F238E27FC236}">
                <a16:creationId xmlns:a16="http://schemas.microsoft.com/office/drawing/2014/main" id="{18F30D88-B069-4B21-A80B-485746FF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aeb91560049f3"/>
          <a:stretch xmlns:a="http://schemas.openxmlformats.org/drawingml/2006/main"/>
        </p:blipFill>
        <p:spPr>
          <a:xfrm xmlns:a="http://schemas.openxmlformats.org/drawingml/2006/main">
            <a:off x="4819650" y="2589531"/>
            <a:ext cx="4057650" cy="2269487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12" name="reader-benefit">
            <a:extLst xmlns:a="http://schemas.openxmlformats.org/drawingml/2006/main">
              <a:ext uri="{FF2B5EF4-FFF2-40B4-BE49-F238E27FC236}">
                <a16:creationId xmlns:a16="http://schemas.microsoft.com/office/drawing/2014/main" id="{69143DBC-1467-40ED-AA63-4CAC287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語言門檻下降，概念理解上升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8e8076d74482a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426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746d0c39445fe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martbook-panel">
            <a:extLst xmlns:a="http://schemas.openxmlformats.org/drawingml/2006/main">
              <a:ext uri="{FF2B5EF4-FFF2-40B4-BE49-F238E27FC236}">
                <a16:creationId xmlns:a16="http://schemas.microsoft.com/office/drawing/2014/main" id="{289A32F1-1EC7-4596-A078-B91A8957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A8B01D2-F5C4-4A1A-8BD8-298DDD9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F7C6C178-B6A2-4471-9AAF-FA5B92E3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學生帶著觀念進教室</a:t>
            </a:r>
          </a:p>
        </p:txBody>
      </p:sp>
      <p:sp>
        <p:nvSpPr>
          <p:cNvPr id="5" name="rule-3">
            <a:extLst xmlns:a="http://schemas.openxmlformats.org/drawingml/2006/main">
              <a:ext uri="{FF2B5EF4-FFF2-40B4-BE49-F238E27FC236}">
                <a16:creationId xmlns:a16="http://schemas.microsoft.com/office/drawing/2014/main" id="{4AB42F46-F2AB-48F6-969B-B8A27F60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3">
            <a:extLst xmlns:a="http://schemas.openxmlformats.org/drawingml/2006/main">
              <a:ext uri="{FF2B5EF4-FFF2-40B4-BE49-F238E27FC236}">
                <a16:creationId xmlns:a16="http://schemas.microsoft.com/office/drawing/2014/main" id="{F4FBBCF3-AD2A-4D6A-8AD7-151A459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SmartBook</a:t>
            </a:r>
          </a:p>
        </p:txBody>
      </p:sp>
      <p:sp>
        <p:nvSpPr>
          <p:cNvPr id="7" name="smartbook-1">
            <a:extLst xmlns:a="http://schemas.openxmlformats.org/drawingml/2006/main">
              <a:ext uri="{FF2B5EF4-FFF2-40B4-BE49-F238E27FC236}">
                <a16:creationId xmlns:a16="http://schemas.microsoft.com/office/drawing/2014/main" id="{B6AE1418-3D8D-407E-A242-96CA6A1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課前自適應閱讀</a:t>
            </a:r>
          </a:p>
        </p:txBody>
      </p:sp>
      <p:sp>
        <p:nvSpPr>
          <p:cNvPr id="8" name="smartbook-2">
            <a:extLst xmlns:a="http://schemas.openxmlformats.org/drawingml/2006/main">
              <a:ext uri="{FF2B5EF4-FFF2-40B4-BE49-F238E27FC236}">
                <a16:creationId xmlns:a16="http://schemas.microsoft.com/office/drawing/2014/main" id="{BDC7C4A6-A6B6-4E5D-8896-CF482A4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概念題＋信心回報</a:t>
            </a:r>
          </a:p>
        </p:txBody>
      </p:sp>
      <p:sp>
        <p:nvSpPr>
          <p:cNvPr id="9" name="smartbook-3">
            <a:extLst xmlns:a="http://schemas.openxmlformats.org/drawingml/2006/main">
              <a:ext uri="{FF2B5EF4-FFF2-40B4-BE49-F238E27FC236}">
                <a16:creationId xmlns:a16="http://schemas.microsoft.com/office/drawing/2014/main" id="{288632BC-B6A6-4982-8F15-C8F013D0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即時掌握班級弱點</a:t>
            </a:r>
          </a:p>
        </p:txBody>
      </p:sp>
      <p:sp>
        <p:nvSpPr>
          <p:cNvPr id="10" name="smartbook-shot-bg">
            <a:extLst xmlns:a="http://schemas.openxmlformats.org/drawingml/2006/main">
              <a:ext uri="{FF2B5EF4-FFF2-40B4-BE49-F238E27FC236}">
                <a16:creationId xmlns:a16="http://schemas.microsoft.com/office/drawing/2014/main" id="{D478E917-0289-41EC-89AE-BA880871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b228e402f459b"/>
          <a:stretch xmlns:a="http://schemas.openxmlformats.org/drawingml/2006/main"/>
        </p:blipFill>
        <p:spPr>
          <a:xfrm xmlns:a="http://schemas.openxmlformats.org/drawingml/2006/main">
            <a:off x="4819650" y="2598705"/>
            <a:ext cx="4057650" cy="2251141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12" name="smartbook-benefit">
            <a:extLst xmlns:a="http://schemas.openxmlformats.org/drawingml/2006/main">
              <a:ext uri="{FF2B5EF4-FFF2-40B4-BE49-F238E27FC236}">
                <a16:creationId xmlns:a16="http://schemas.microsoft.com/office/drawing/2014/main" id="{6999E864-00CB-4F61-9701-ED40CFD6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把課堂時間留給迷思、推導與應用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ae42459984d9a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419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24c0c960e4b84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st-panel">
            <a:extLst xmlns:a="http://schemas.openxmlformats.org/drawingml/2006/main">
              <a:ext uri="{FF2B5EF4-FFF2-40B4-BE49-F238E27FC236}">
                <a16:creationId xmlns:a16="http://schemas.microsoft.com/office/drawing/2014/main" id="{4AE757B5-C1E3-49AF-A87C-6656B69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995EAFE5-8ABA-491A-982C-D03EFACD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98FA29FF-3B0A-48C2-AA60-2619480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精準考卷快速完成</a:t>
            </a:r>
          </a:p>
        </p:txBody>
      </p:sp>
      <p:sp>
        <p:nvSpPr>
          <p:cNvPr id="5" name="rule-4">
            <a:extLst xmlns:a="http://schemas.openxmlformats.org/drawingml/2006/main">
              <a:ext uri="{FF2B5EF4-FFF2-40B4-BE49-F238E27FC236}">
                <a16:creationId xmlns:a16="http://schemas.microsoft.com/office/drawing/2014/main" id="{7042EC57-B804-4E54-8DF5-D8F81F6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4">
            <a:extLst xmlns:a="http://schemas.openxmlformats.org/drawingml/2006/main">
              <a:ext uri="{FF2B5EF4-FFF2-40B4-BE49-F238E27FC236}">
                <a16:creationId xmlns:a16="http://schemas.microsoft.com/office/drawing/2014/main" id="{691B448A-A202-4CAE-A01D-17404AAB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Test Builder</a:t>
            </a:r>
          </a:p>
        </p:txBody>
      </p:sp>
      <p:sp>
        <p:nvSpPr>
          <p:cNvPr id="7" name="test-1">
            <a:extLst xmlns:a="http://schemas.openxmlformats.org/drawingml/2006/main">
              <a:ext uri="{FF2B5EF4-FFF2-40B4-BE49-F238E27FC236}">
                <a16:creationId xmlns:a16="http://schemas.microsoft.com/office/drawing/2014/main" id="{F5DA3832-5654-407B-9959-6BF9D982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依章節與難度篩題</a:t>
            </a:r>
          </a:p>
        </p:txBody>
      </p:sp>
      <p:sp>
        <p:nvSpPr>
          <p:cNvPr id="8" name="test-2">
            <a:extLst xmlns:a="http://schemas.openxmlformats.org/drawingml/2006/main">
              <a:ext uri="{FF2B5EF4-FFF2-40B4-BE49-F238E27FC236}">
                <a16:creationId xmlns:a16="http://schemas.microsoft.com/office/drawing/2014/main" id="{AB6BB2C6-1392-46AD-B9DE-D0852502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對齊認知層次</a:t>
            </a:r>
          </a:p>
        </p:txBody>
      </p:sp>
      <p:sp>
        <p:nvSpPr>
          <p:cNvPr id="9" name="test-3">
            <a:extLst xmlns:a="http://schemas.openxmlformats.org/drawingml/2006/main">
              <a:ext uri="{FF2B5EF4-FFF2-40B4-BE49-F238E27FC236}">
                <a16:creationId xmlns:a16="http://schemas.microsoft.com/office/drawing/2014/main" id="{80BA7DDE-B9FB-4474-B91E-716C83B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拖拉排序、匯出列印</a:t>
            </a:r>
          </a:p>
        </p:txBody>
      </p:sp>
      <p:sp>
        <p:nvSpPr>
          <p:cNvPr id="10" name="test-shot-bg">
            <a:extLst xmlns:a="http://schemas.openxmlformats.org/drawingml/2006/main">
              <a:ext uri="{FF2B5EF4-FFF2-40B4-BE49-F238E27FC236}">
                <a16:creationId xmlns:a16="http://schemas.microsoft.com/office/drawing/2014/main" id="{F5F412AE-8764-40A8-ACB3-BCB799F7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a5ad36c0f4480"/>
          <a:stretch xmlns:a="http://schemas.openxmlformats.org/drawingml/2006/main"/>
        </p:blipFill>
        <p:spPr>
          <a:xfrm xmlns:a="http://schemas.openxmlformats.org/drawingml/2006/main">
            <a:off x="4889317" y="2362200"/>
            <a:ext cx="1727565" cy="27241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0488626a74001"/>
          <a:stretch xmlns:a="http://schemas.openxmlformats.org/drawingml/2006/main"/>
        </p:blipFill>
        <p:spPr>
          <a:xfrm xmlns:a="http://schemas.openxmlformats.org/drawingml/2006/main">
            <a:off x="6898892" y="2362200"/>
            <a:ext cx="1727966" cy="2724150"/>
          </a:xfrm>
          <a:prstGeom xmlns:a="http://schemas.openxmlformats.org/drawingml/2006/main" prst="roundRect">
            <a:avLst>
              <a:gd name="adj" fmla="val 4396"/>
            </a:avLst>
          </a:prstGeom>
        </p:spPr>
      </p:pic>
      <p:sp>
        <p:nvSpPr>
          <p:cNvPr id="13" name="test-benefit">
            <a:extLst xmlns:a="http://schemas.openxmlformats.org/drawingml/2006/main">
              <a:ext uri="{FF2B5EF4-FFF2-40B4-BE49-F238E27FC236}">
                <a16:creationId xmlns:a16="http://schemas.microsoft.com/office/drawing/2014/main" id="{FF5839EF-ACFA-43BC-BE85-53EBAB2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常用篩選條件，建立可重複的命題流程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890b2fa4c4b82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18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12c5e62ad4843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43D409E9-834C-4E32-ACBC-ED981D7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E22C770E-DCF3-40FA-8A0F-D80AC8F4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20D0BA3F-92C6-4513-AF6F-9719BA56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批改交給系統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01129983-B8B6-45F5-BCA7-DDEED968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5">
            <a:extLst xmlns:a="http://schemas.openxmlformats.org/drawingml/2006/main">
              <a:ext uri="{FF2B5EF4-FFF2-40B4-BE49-F238E27FC236}">
                <a16:creationId xmlns:a16="http://schemas.microsoft.com/office/drawing/2014/main" id="{24D23CDC-09CE-42B1-A8A0-87F4CF9E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Question Bank</a:t>
            </a:r>
          </a:p>
        </p:txBody>
      </p:sp>
      <p:sp>
        <p:nvSpPr>
          <p:cNvPr id="7" name="question-1">
            <a:extLst xmlns:a="http://schemas.openxmlformats.org/drawingml/2006/main">
              <a:ext uri="{FF2B5EF4-FFF2-40B4-BE49-F238E27FC236}">
                <a16:creationId xmlns:a16="http://schemas.microsoft.com/office/drawing/2014/main" id="{FCC2EEB4-7CEC-4BB2-9DF3-13776FB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期限／次數／配分</a:t>
            </a:r>
          </a:p>
        </p:txBody>
      </p:sp>
      <p:sp>
        <p:nvSpPr>
          <p:cNvPr id="8" name="question-2">
            <a:extLst xmlns:a="http://schemas.openxmlformats.org/drawingml/2006/main">
              <a:ext uri="{FF2B5EF4-FFF2-40B4-BE49-F238E27FC236}">
                <a16:creationId xmlns:a16="http://schemas.microsoft.com/office/drawing/2014/main" id="{2ED4504C-09B3-42DD-A19F-DFFBD76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作答後自動批改</a:t>
            </a:r>
          </a:p>
        </p:txBody>
      </p:sp>
      <p:sp>
        <p:nvSpPr>
          <p:cNvPr id="9" name="question-3">
            <a:extLst xmlns:a="http://schemas.openxmlformats.org/drawingml/2006/main">
              <a:ext uri="{FF2B5EF4-FFF2-40B4-BE49-F238E27FC236}">
                <a16:creationId xmlns:a16="http://schemas.microsoft.com/office/drawing/2014/main" id="{B5C4B851-BF32-4FC4-AE00-59A56361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彙整全班錯誤概念</a:t>
            </a:r>
          </a:p>
        </p:txBody>
      </p:sp>
      <p:sp>
        <p:nvSpPr>
          <p:cNvPr id="10" name="question-shot-bg">
            <a:extLst xmlns:a="http://schemas.openxmlformats.org/drawingml/2006/main">
              <a:ext uri="{FF2B5EF4-FFF2-40B4-BE49-F238E27FC236}">
                <a16:creationId xmlns:a16="http://schemas.microsoft.com/office/drawing/2014/main" id="{9D48EF9C-EF25-4707-9EE6-98D118CB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ff2fc426346fa"/>
          <a:stretch xmlns:a="http://schemas.openxmlformats.org/drawingml/2006/main"/>
        </p:blipFill>
        <p:spPr>
          <a:xfrm xmlns:a="http://schemas.openxmlformats.org/drawingml/2006/main">
            <a:off x="4889317" y="2362200"/>
            <a:ext cx="1727565" cy="27241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07c91c1b0411b"/>
          <a:stretch xmlns:a="http://schemas.openxmlformats.org/drawingml/2006/main"/>
        </p:blipFill>
        <p:spPr>
          <a:xfrm xmlns:a="http://schemas.openxmlformats.org/drawingml/2006/main">
            <a:off x="6899092" y="2362200"/>
            <a:ext cx="1727565" cy="2724150"/>
          </a:xfrm>
          <a:prstGeom xmlns:a="http://schemas.openxmlformats.org/drawingml/2006/main" prst="roundRect">
            <a:avLst>
              <a:gd name="adj" fmla="val 4396"/>
            </a:avLst>
          </a:prstGeom>
        </p:spPr>
      </p:pic>
      <p:sp>
        <p:nvSpPr>
          <p:cNvPr id="13" name="question-benefit">
            <a:extLst xmlns:a="http://schemas.openxmlformats.org/drawingml/2006/main">
              <a:ext uri="{FF2B5EF4-FFF2-40B4-BE49-F238E27FC236}">
                <a16:creationId xmlns:a16="http://schemas.microsoft.com/office/drawing/2014/main" id="{B0AAB601-7068-4778-8971-B0451B3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把時間從重複批改，移到精準回饋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5b09b471d4d0a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446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0200b1ddd410e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xcel-panel">
            <a:extLst xmlns:a="http://schemas.openxmlformats.org/drawingml/2006/main">
              <a:ext uri="{FF2B5EF4-FFF2-40B4-BE49-F238E27FC236}">
                <a16:creationId xmlns:a16="http://schemas.microsoft.com/office/drawing/2014/main" id="{1019CF34-F86A-433E-9151-DF99E082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B77B1C81-0E6F-447C-8BDD-812D390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194D72B1-B40E-4E28-8850-8745609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Excel 帶進課堂</a:t>
            </a:r>
          </a:p>
        </p:txBody>
      </p:sp>
      <p:sp>
        <p:nvSpPr>
          <p:cNvPr id="5" name="rule-6">
            <a:extLst xmlns:a="http://schemas.openxmlformats.org/drawingml/2006/main">
              <a:ext uri="{FF2B5EF4-FFF2-40B4-BE49-F238E27FC236}">
                <a16:creationId xmlns:a16="http://schemas.microsoft.com/office/drawing/2014/main" id="{02997974-A443-4B08-AE01-95586D27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6">
            <a:extLst xmlns:a="http://schemas.openxmlformats.org/drawingml/2006/main">
              <a:ext uri="{FF2B5EF4-FFF2-40B4-BE49-F238E27FC236}">
                <a16:creationId xmlns:a16="http://schemas.microsoft.com/office/drawing/2014/main" id="{F403DA82-5566-4D11-866F-AF62B9F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Integrated Excel</a:t>
            </a:r>
          </a:p>
        </p:txBody>
      </p:sp>
      <p:sp>
        <p:nvSpPr>
          <p:cNvPr id="7" name="excel-1">
            <a:extLst xmlns:a="http://schemas.openxmlformats.org/drawingml/2006/main">
              <a:ext uri="{FF2B5EF4-FFF2-40B4-BE49-F238E27FC236}">
                <a16:creationId xmlns:a16="http://schemas.microsoft.com/office/drawing/2014/main" id="{EC658817-A623-4A91-A95E-BD24263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題目內操作 Excel</a:t>
            </a:r>
          </a:p>
        </p:txBody>
      </p:sp>
      <p:sp>
        <p:nvSpPr>
          <p:cNvPr id="8" name="excel-2">
            <a:extLst xmlns:a="http://schemas.openxmlformats.org/drawingml/2006/main">
              <a:ext uri="{FF2B5EF4-FFF2-40B4-BE49-F238E27FC236}">
                <a16:creationId xmlns:a16="http://schemas.microsoft.com/office/drawing/2014/main" id="{CE147ED5-38CE-4040-B7B3-3CC35B33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支援 PV、FV 等函數</a:t>
            </a:r>
          </a:p>
        </p:txBody>
      </p:sp>
      <p:sp>
        <p:nvSpPr>
          <p:cNvPr id="9" name="excel-3">
            <a:extLst xmlns:a="http://schemas.openxmlformats.org/drawingml/2006/main">
              <a:ext uri="{FF2B5EF4-FFF2-40B4-BE49-F238E27FC236}">
                <a16:creationId xmlns:a16="http://schemas.microsoft.com/office/drawing/2014/main" id="{BE8C2825-6CA2-4894-9C12-F6D7294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同時檢查公式與結果</a:t>
            </a:r>
          </a:p>
        </p:txBody>
      </p:sp>
      <p:sp>
        <p:nvSpPr>
          <p:cNvPr id="10" name="excel-shot-bg">
            <a:extLst xmlns:a="http://schemas.openxmlformats.org/drawingml/2006/main">
              <a:ext uri="{FF2B5EF4-FFF2-40B4-BE49-F238E27FC236}">
                <a16:creationId xmlns:a16="http://schemas.microsoft.com/office/drawing/2014/main" id="{EBE6F4B4-CE1A-4904-817D-05ADF30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63d9955ee4da3"/>
          <a:stretch xmlns:a="http://schemas.openxmlformats.org/drawingml/2006/main"/>
        </p:blipFill>
        <p:spPr>
          <a:xfrm xmlns:a="http://schemas.openxmlformats.org/drawingml/2006/main">
            <a:off x="4819650" y="2589164"/>
            <a:ext cx="4057650" cy="2270223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12" name="excel-benefit">
            <a:extLst xmlns:a="http://schemas.openxmlformats.org/drawingml/2006/main">
              <a:ext uri="{FF2B5EF4-FFF2-40B4-BE49-F238E27FC236}">
                <a16:creationId xmlns:a16="http://schemas.microsoft.com/office/drawing/2014/main" id="{F64D6C7B-9F37-4A3D-8BD7-54C824E8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從算出答案，進階到說清楚解題方法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8a1d769cf4536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252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6ed54c54a4f8c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ba-panel">
            <a:extLst xmlns:a="http://schemas.openxmlformats.org/drawingml/2006/main">
              <a:ext uri="{FF2B5EF4-FFF2-40B4-BE49-F238E27FC236}">
                <a16:creationId xmlns:a16="http://schemas.microsoft.com/office/drawing/2014/main" id="{58E37986-3644-4B14-B47A-4DB928BB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3EC536AA-04E9-4DC9-B0DE-23C7ED93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1425E273-C5D5-4EBB-B20F-63AA38D3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財管知識活起來</a:t>
            </a:r>
          </a:p>
        </p:txBody>
      </p:sp>
      <p:sp>
        <p:nvSpPr>
          <p:cNvPr id="5" name="rule-7">
            <a:extLst xmlns:a="http://schemas.openxmlformats.org/drawingml/2006/main">
              <a:ext uri="{FF2B5EF4-FFF2-40B4-BE49-F238E27FC236}">
                <a16:creationId xmlns:a16="http://schemas.microsoft.com/office/drawing/2014/main" id="{2E23018F-F8C6-4565-95AA-729355CF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7">
            <a:extLst xmlns:a="http://schemas.openxmlformats.org/drawingml/2006/main">
              <a:ext uri="{FF2B5EF4-FFF2-40B4-BE49-F238E27FC236}">
                <a16:creationId xmlns:a16="http://schemas.microsoft.com/office/drawing/2014/main" id="{75E0E09C-FDED-4965-B9AE-DBC63125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ABA｜情境活動</a:t>
            </a:r>
          </a:p>
        </p:txBody>
      </p:sp>
      <p:sp>
        <p:nvSpPr>
          <p:cNvPr id="7" name="aba-1">
            <a:extLst xmlns:a="http://schemas.openxmlformats.org/drawingml/2006/main">
              <a:ext uri="{FF2B5EF4-FFF2-40B4-BE49-F238E27FC236}">
                <a16:creationId xmlns:a16="http://schemas.microsoft.com/office/drawing/2014/main" id="{B44432C4-A0C9-4682-92BD-EC35791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企業情境任務</a:t>
            </a:r>
          </a:p>
        </p:txBody>
      </p:sp>
      <p:sp>
        <p:nvSpPr>
          <p:cNvPr id="8" name="aba-2">
            <a:extLst xmlns:a="http://schemas.openxmlformats.org/drawingml/2006/main">
              <a:ext uri="{FF2B5EF4-FFF2-40B4-BE49-F238E27FC236}">
                <a16:creationId xmlns:a16="http://schemas.microsoft.com/office/drawing/2014/main" id="{23EC91CE-1E5F-4346-8E21-7EEFD274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決策、溝通與談判</a:t>
            </a:r>
          </a:p>
        </p:txBody>
      </p:sp>
      <p:sp>
        <p:nvSpPr>
          <p:cNvPr id="9" name="aba-3">
            <a:extLst xmlns:a="http://schemas.openxmlformats.org/drawingml/2006/main">
              <a:ext uri="{FF2B5EF4-FFF2-40B4-BE49-F238E27FC236}">
                <a16:creationId xmlns:a16="http://schemas.microsoft.com/office/drawing/2014/main" id="{CB6A1D4E-CA07-43D9-8BCD-A108A81E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依表現即時給分</a:t>
            </a:r>
          </a:p>
        </p:txBody>
      </p:sp>
      <p:sp>
        <p:nvSpPr>
          <p:cNvPr id="10" name="aba-shot-bg">
            <a:extLst xmlns:a="http://schemas.openxmlformats.org/drawingml/2006/main">
              <a:ext uri="{FF2B5EF4-FFF2-40B4-BE49-F238E27FC236}">
                <a16:creationId xmlns:a16="http://schemas.microsoft.com/office/drawing/2014/main" id="{F0FAB5CF-A155-4860-9408-8AE531B1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ad2c3d8634e1d"/>
          <a:stretch xmlns:a="http://schemas.openxmlformats.org/drawingml/2006/main"/>
        </p:blipFill>
        <p:spPr>
          <a:xfrm xmlns:a="http://schemas.openxmlformats.org/drawingml/2006/main">
            <a:off x="5602485" y="2381250"/>
            <a:ext cx="2491981" cy="18478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59c9fa3cc4887"/>
          <a:stretch xmlns:a="http://schemas.openxmlformats.org/drawingml/2006/main"/>
        </p:blipFill>
        <p:spPr>
          <a:xfrm xmlns:a="http://schemas.openxmlformats.org/drawingml/2006/main">
            <a:off x="5843411" y="4362450"/>
            <a:ext cx="2010128" cy="704850"/>
          </a:xfrm>
          <a:prstGeom xmlns:a="http://schemas.openxmlformats.org/drawingml/2006/main" prst="roundRect">
            <a:avLst>
              <a:gd name="adj" fmla="val 10811"/>
            </a:avLst>
          </a:prstGeom>
        </p:spPr>
      </p:pic>
      <p:sp>
        <p:nvSpPr>
          <p:cNvPr id="13" name="aba-benefit">
            <a:extLst xmlns:a="http://schemas.openxmlformats.org/drawingml/2006/main">
              <a:ext uri="{FF2B5EF4-FFF2-40B4-BE49-F238E27FC236}">
                <a16:creationId xmlns:a16="http://schemas.microsoft.com/office/drawing/2014/main" id="{9A4566F1-6D44-4C61-B62D-142CDC6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把公式放進決策，讓結果回到課堂討論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48a954e094ea4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422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2e58cb9c24c2a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sources-panel">
            <a:extLst xmlns:a="http://schemas.openxmlformats.org/drawingml/2006/main">
              <a:ext uri="{FF2B5EF4-FFF2-40B4-BE49-F238E27FC236}">
                <a16:creationId xmlns:a16="http://schemas.microsoft.com/office/drawing/2014/main" id="{0A2FFE29-4F82-4063-BA77-BF8E3EF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B8B6DAD8-60F9-4C0E-BD8C-A2498DBD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DB06049C-8E18-4B17-B2E1-EB38DF56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備課資源一次到位</a:t>
            </a:r>
          </a:p>
        </p:txBody>
      </p:sp>
      <p:sp>
        <p:nvSpPr>
          <p:cNvPr id="5" name="rule-8">
            <a:extLst xmlns:a="http://schemas.openxmlformats.org/drawingml/2006/main">
              <a:ext uri="{FF2B5EF4-FFF2-40B4-BE49-F238E27FC236}">
                <a16:creationId xmlns:a16="http://schemas.microsoft.com/office/drawing/2014/main" id="{A868E915-B41A-4810-A1DE-D03BA243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8">
            <a:extLst xmlns:a="http://schemas.openxmlformats.org/drawingml/2006/main">
              <a:ext uri="{FF2B5EF4-FFF2-40B4-BE49-F238E27FC236}">
                <a16:creationId xmlns:a16="http://schemas.microsoft.com/office/drawing/2014/main" id="{18ED7642-D28C-43C3-ACAE-457483A3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教師備課資源</a:t>
            </a:r>
          </a:p>
        </p:txBody>
      </p:sp>
      <p:sp>
        <p:nvSpPr>
          <p:cNvPr id="7" name="resources-1">
            <a:extLst xmlns:a="http://schemas.openxmlformats.org/drawingml/2006/main">
              <a:ext uri="{FF2B5EF4-FFF2-40B4-BE49-F238E27FC236}">
                <a16:creationId xmlns:a16="http://schemas.microsoft.com/office/drawing/2014/main" id="{11C246BC-852B-4C09-9085-35C4687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教師手冊與解答</a:t>
            </a:r>
          </a:p>
        </p:txBody>
      </p:sp>
      <p:sp>
        <p:nvSpPr>
          <p:cNvPr id="8" name="resources-2">
            <a:extLst xmlns:a="http://schemas.openxmlformats.org/drawingml/2006/main">
              <a:ext uri="{FF2B5EF4-FFF2-40B4-BE49-F238E27FC236}">
                <a16:creationId xmlns:a16="http://schemas.microsoft.com/office/drawing/2014/main" id="{0C5BF95C-B944-45DD-B259-CB0C43E8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投影片與 Excel 檔</a:t>
            </a:r>
          </a:p>
        </p:txBody>
      </p:sp>
      <p:sp>
        <p:nvSpPr>
          <p:cNvPr id="9" name="resources-3">
            <a:extLst xmlns:a="http://schemas.openxmlformats.org/drawingml/2006/main">
              <a:ext uri="{FF2B5EF4-FFF2-40B4-BE49-F238E27FC236}">
                <a16:creationId xmlns:a16="http://schemas.microsoft.com/office/drawing/2014/main" id="{890B8DE6-E9EC-4ECA-A90F-EB07E89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影片與補充教材</a:t>
            </a:r>
          </a:p>
        </p:txBody>
      </p:sp>
      <p:sp>
        <p:nvSpPr>
          <p:cNvPr id="10" name="resources-shot-bg">
            <a:extLst xmlns:a="http://schemas.openxmlformats.org/drawingml/2006/main">
              <a:ext uri="{FF2B5EF4-FFF2-40B4-BE49-F238E27FC236}">
                <a16:creationId xmlns:a16="http://schemas.microsoft.com/office/drawing/2014/main" id="{1806A475-47DC-43F0-B2DD-8D3B7A50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eefb8b56941a6"/>
          <a:stretch xmlns:a="http://schemas.openxmlformats.org/drawingml/2006/main"/>
        </p:blipFill>
        <p:spPr>
          <a:xfrm xmlns:a="http://schemas.openxmlformats.org/drawingml/2006/main">
            <a:off x="4819650" y="2586488"/>
            <a:ext cx="4057650" cy="2275574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12" name="resources-benefit">
            <a:extLst xmlns:a="http://schemas.openxmlformats.org/drawingml/2006/main">
              <a:ext uri="{FF2B5EF4-FFF2-40B4-BE49-F238E27FC236}">
                <a16:creationId xmlns:a16="http://schemas.microsoft.com/office/drawing/2014/main" id="{5B285202-EE69-41B6-9567-2AFF8C1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先有課程骨架，再依班級與節奏調整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ada9afe5a42ef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05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43c572367407b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pport-panel">
            <a:extLst xmlns:a="http://schemas.openxmlformats.org/drawingml/2006/main">
              <a:ext uri="{FF2B5EF4-FFF2-40B4-BE49-F238E27FC236}">
                <a16:creationId xmlns:a16="http://schemas.microsoft.com/office/drawing/2014/main" id="{37DDF72A-17FE-461D-BD0C-AE2052D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2C76A6A9-A2E4-4CDF-AFB9-ADE6CA6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EF02B1F2-703F-40E5-994E-8B261B0F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系統導入零障礙</a:t>
            </a:r>
          </a:p>
        </p:txBody>
      </p:sp>
      <p:sp>
        <p:nvSpPr>
          <p:cNvPr id="5" name="rule-9">
            <a:extLst xmlns:a="http://schemas.openxmlformats.org/drawingml/2006/main">
              <a:ext uri="{FF2B5EF4-FFF2-40B4-BE49-F238E27FC236}">
                <a16:creationId xmlns:a16="http://schemas.microsoft.com/office/drawing/2014/main" id="{00D098D9-9565-43ED-9662-7E684BC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9">
            <a:extLst xmlns:a="http://schemas.openxmlformats.org/drawingml/2006/main">
              <a:ext uri="{FF2B5EF4-FFF2-40B4-BE49-F238E27FC236}">
                <a16:creationId xmlns:a16="http://schemas.microsoft.com/office/drawing/2014/main" id="{CAA07284-08F3-4F5D-B0E6-0C79A6C5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導入與支援</a:t>
            </a:r>
          </a:p>
        </p:txBody>
      </p:sp>
      <p:sp>
        <p:nvSpPr>
          <p:cNvPr id="7" name="support-1">
            <a:extLst xmlns:a="http://schemas.openxmlformats.org/drawingml/2006/main">
              <a:ext uri="{FF2B5EF4-FFF2-40B4-BE49-F238E27FC236}">
                <a16:creationId xmlns:a16="http://schemas.microsoft.com/office/drawing/2014/main" id="{48856219-917F-456E-8873-83659DF5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先做系統相容性檢查</a:t>
            </a:r>
          </a:p>
        </p:txBody>
      </p:sp>
      <p:sp>
        <p:nvSpPr>
          <p:cNvPr id="8" name="support-2">
            <a:extLst xmlns:a="http://schemas.openxmlformats.org/drawingml/2006/main">
              <a:ext uri="{FF2B5EF4-FFF2-40B4-BE49-F238E27FC236}">
                <a16:creationId xmlns:a16="http://schemas.microsoft.com/office/drawing/2014/main" id="{25A04AB9-1C14-4DE4-921E-3CD080A5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0478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電腦＋Chrome</a:t>
            </a:r>
          </a:p>
        </p:txBody>
      </p:sp>
      <p:sp>
        <p:nvSpPr>
          <p:cNvPr id="9" name="support-3">
            <a:extLst xmlns:a="http://schemas.openxmlformats.org/drawingml/2006/main">
              <a:ext uri="{FF2B5EF4-FFF2-40B4-BE49-F238E27FC236}">
                <a16:creationId xmlns:a16="http://schemas.microsoft.com/office/drawing/2014/main" id="{D36FF4AF-C49A-4D72-90C0-F798CC4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571875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13335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• 完成後 Save &amp; Exit</a:t>
            </a:r>
          </a:p>
        </p:txBody>
      </p:sp>
      <p:sp>
        <p:nvSpPr>
          <p:cNvPr id="10" name="support-shot-bg">
            <a:extLst xmlns:a="http://schemas.openxmlformats.org/drawingml/2006/main">
              <a:ext uri="{FF2B5EF4-FFF2-40B4-BE49-F238E27FC236}">
                <a16:creationId xmlns:a16="http://schemas.microsoft.com/office/drawing/2014/main" id="{8333A5DD-5E28-422D-891B-65527C5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4324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40754e9b84393"/>
          <a:stretch xmlns:a="http://schemas.openxmlformats.org/drawingml/2006/main"/>
        </p:blipFill>
        <p:spPr>
          <a:xfrm xmlns:a="http://schemas.openxmlformats.org/drawingml/2006/main">
            <a:off x="4819650" y="2586022"/>
            <a:ext cx="4057650" cy="2276507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12" name="support-benefit">
            <a:extLst xmlns:a="http://schemas.openxmlformats.org/drawingml/2006/main">
              <a:ext uri="{FF2B5EF4-FFF2-40B4-BE49-F238E27FC236}">
                <a16:creationId xmlns:a16="http://schemas.microsoft.com/office/drawing/2014/main" id="{994ABC35-272E-480C-B90B-EC38B37A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正式上課前，先完成一次學生視角測試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fa44c745a443b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995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b80f0fbf2484c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ta-panel">
            <a:extLst xmlns:a="http://schemas.openxmlformats.org/drawingml/2006/main">
              <a:ext uri="{FF2B5EF4-FFF2-40B4-BE49-F238E27FC236}">
                <a16:creationId xmlns:a16="http://schemas.microsoft.com/office/drawing/2014/main" id="{72F83CAF-8DFC-4F63-859B-24461D7A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763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A073"/>
            </a:solidFill>
            <a:prstDash val="solid"/>
          </a:ln>
        </p:spPr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21C319B8-9133-4D15-9D9D-A843C81D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666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55F44596-0250-4A8B-8CB3-4A3B66B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選一章立即試跑</a:t>
            </a:r>
          </a:p>
        </p:txBody>
      </p:sp>
      <p:sp>
        <p:nvSpPr>
          <p:cNvPr id="5" name="rule-10">
            <a:extLst xmlns:a="http://schemas.openxmlformats.org/drawingml/2006/main">
              <a:ext uri="{FF2B5EF4-FFF2-40B4-BE49-F238E27FC236}">
                <a16:creationId xmlns:a16="http://schemas.microsoft.com/office/drawing/2014/main" id="{33FD2C7A-2B3E-4F40-92F0-A1128519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10">
            <a:extLst xmlns:a="http://schemas.openxmlformats.org/drawingml/2006/main">
              <a:ext uri="{FF2B5EF4-FFF2-40B4-BE49-F238E27FC236}">
                <a16:creationId xmlns:a16="http://schemas.microsoft.com/office/drawing/2014/main" id="{31B1F34F-3178-426E-8B85-36B0A8E6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8FA0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Start Small</a:t>
            </a:r>
          </a:p>
        </p:txBody>
      </p:sp>
      <p:sp>
        <p:nvSpPr>
          <p:cNvPr id="7" name="cta-1">
            <a:extLst xmlns:a="http://schemas.openxmlformats.org/drawingml/2006/main">
              <a:ext uri="{FF2B5EF4-FFF2-40B4-BE49-F238E27FC236}">
                <a16:creationId xmlns:a16="http://schemas.microsoft.com/office/drawing/2014/main" id="{F1CF5D11-D7F1-4540-A2BF-5192AB0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2383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申請測試帳號</a:t>
            </a:r>
          </a:p>
        </p:txBody>
      </p:sp>
      <p:sp>
        <p:nvSpPr>
          <p:cNvPr id="8" name="cta-arrow-1">
            <a:extLst xmlns:a="http://schemas.openxmlformats.org/drawingml/2006/main">
              <a:ext uri="{FF2B5EF4-FFF2-40B4-BE49-F238E27FC236}">
                <a16:creationId xmlns:a16="http://schemas.microsoft.com/office/drawing/2014/main" id="{316759B3-206A-440B-A11F-85C74B7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cta-2">
            <a:extLst xmlns:a="http://schemas.openxmlformats.org/drawingml/2006/main">
              <a:ext uri="{FF2B5EF4-FFF2-40B4-BE49-F238E27FC236}">
                <a16:creationId xmlns:a16="http://schemas.microsoft.com/office/drawing/2014/main" id="{11428EE1-022D-4BEA-8005-4EB438B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3ECE7"/>
          </a:solidFill>
          <a:ln xmlns:a="http://schemas.openxmlformats.org/drawingml/2006/main" w="12383">
            <a:solidFill>
              <a:srgbClr val="64331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選一個章節</a:t>
            </a:r>
          </a:p>
        </p:txBody>
      </p:sp>
      <p:sp>
        <p:nvSpPr>
          <p:cNvPr id="10" name="cta-arrow-2">
            <a:extLst xmlns:a="http://schemas.openxmlformats.org/drawingml/2006/main">
              <a:ext uri="{FF2B5EF4-FFF2-40B4-BE49-F238E27FC236}">
                <a16:creationId xmlns:a16="http://schemas.microsoft.com/office/drawing/2014/main" id="{5062C94B-AB75-4644-AD94-8497D64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64331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cta-3">
            <a:extLst xmlns:a="http://schemas.openxmlformats.org/drawingml/2006/main">
              <a:ext uri="{FF2B5EF4-FFF2-40B4-BE49-F238E27FC236}">
                <a16:creationId xmlns:a16="http://schemas.microsoft.com/office/drawing/2014/main" id="{D61E688B-C392-4134-961C-139A8A8B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43150"/>
            <a:ext cx="18859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12383">
            <a:solidFill>
              <a:srgbClr val="8FA073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設定預習或作業</a:t>
            </a:r>
          </a:p>
        </p:txBody>
      </p:sp>
      <p:sp>
        <p:nvSpPr>
          <p:cNvPr id="12" name="cta-shot-bg">
            <a:extLst xmlns:a="http://schemas.openxmlformats.org/drawingml/2006/main">
              <a:ext uri="{FF2B5EF4-FFF2-40B4-BE49-F238E27FC236}">
                <a16:creationId xmlns:a16="http://schemas.microsoft.com/office/drawing/2014/main" id="{938B3043-760C-483B-956B-B0109303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81343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7F4"/>
          </a:solidFill>
          <a:ln xmlns:a="http://schemas.openxmlformats.org/drawingml/2006/main" w="10478">
            <a:solidFill>
              <a:srgbClr val="8FA07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064f5db3f47c6"/>
          <a:stretch xmlns:a="http://schemas.openxmlformats.org/drawingml/2006/main"/>
        </p:blipFill>
        <p:spPr>
          <a:xfrm xmlns:a="http://schemas.openxmlformats.org/drawingml/2006/main">
            <a:off x="3623882" y="3886200"/>
            <a:ext cx="2639185" cy="12192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sp>
        <p:nvSpPr>
          <p:cNvPr id="14" name="cta-benefit">
            <a:extLst xmlns:a="http://schemas.openxmlformats.org/drawingml/2006/main">
              <a:ext uri="{FF2B5EF4-FFF2-40B4-BE49-F238E27FC236}">
                <a16:creationId xmlns:a16="http://schemas.microsoft.com/office/drawing/2014/main" id="{242B92C6-B299-4EE9-9ADC-7ED7FC8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81343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433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一章開始｜用完成率與錯誤概念決定下一步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953ac51be495e"/>
          <a:stretch xmlns:a="http://schemas.openxmlformats.org/drawingml/2006/main"/>
        </p:blipFill>
        <p:spPr>
          <a:xfrm xmlns:a="http://schemas.openxmlformats.org/drawingml/2006/main">
            <a:off x="9505950" y="2857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20228"/>
      </p:ext>
    </p:extLst>
  </p:cSld>
</p:sld>
</file>

<file path=ppt/theme/theme1.xml><?xml version="1.0" encoding="utf-8"?>
<a:theme xmlns:a="http://schemas.openxmlformats.org/drawingml/2006/main" name="ChatGPT">
  <a:themeElements>
    <a:clrScheme name="Connect 教師推薦">
      <a:dk1>
        <a:srgbClr val="262626"/>
      </a:dk1>
      <a:lt1>
        <a:srgbClr val="FFFFFF"/>
      </a:lt1>
      <a:dk2>
        <a:srgbClr val="643312"/>
      </a:dk2>
      <a:lt2>
        <a:srgbClr val="EEF1EA"/>
      </a:lt2>
      <a:accent1>
        <a:srgbClr val="643312"/>
      </a:accent1>
      <a:accent2>
        <a:srgbClr val="8FA073"/>
      </a:accent2>
      <a:accent3>
        <a:srgbClr val="262626"/>
      </a:accent3>
      <a:accent4>
        <a:srgbClr val="BCA18F"/>
      </a:accent4>
      <a:accent5>
        <a:srgbClr val="D9E0D3"/>
      </a:accent5>
      <a:accent6>
        <a:srgbClr val="777777"/>
      </a:accent6>
      <a:hlink>
        <a:srgbClr val="643312"/>
      </a:hlink>
      <a:folHlink>
        <a:srgbClr val="8FA0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nect 教師推薦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2026-09-06T03:20:14.1490000Z</dcterms:created>
  <dcterms:modified xsi:type="dcterms:W3CDTF">2026-09-06T03:20:14.1490000Z</dcterms:modified>
</coreProperties>
</file>